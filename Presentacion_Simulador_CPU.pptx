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8" d="100"/>
          <a:sy n="68" d="100"/>
        </p:scale>
        <p:origin x="1362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648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 1 · Arquitectura de Computadoras (SIS-131)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de CPU de 8 bits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von Neumann / x86 simplificada, en Excel con VBA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2F7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48840" y="274320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148840" y="2743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49040" y="274320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982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749040" y="2743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49240" y="274320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3BB2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349240" y="2743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6576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Alicia Belaunde Villagomez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Ing. Paulo César Loayza Carrasco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Católica Boliviana "San Pablo" — Santa Cruz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la presentación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70676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807836"/>
            <a:ext cx="457200" cy="457200"/>
          </a:xfrm>
          <a:prstGeom prst="ellipse">
            <a:avLst/>
          </a:prstGeom>
          <a:solidFill>
            <a:srgbClr val="2F7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8078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7067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la CPU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670676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Componentes, memoria, ciclo de instrucción, ISA y banderas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539356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" y="2676516"/>
            <a:ext cx="457200" cy="457200"/>
          </a:xfrm>
          <a:prstGeom prst="ellipse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0080" y="26765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53935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 proyecto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539356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Repositorio, commits, tablero Kanban y README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408036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" y="3545196"/>
            <a:ext cx="457200" cy="457200"/>
          </a:xfrm>
          <a:prstGeom prst="ellipse">
            <a:avLst/>
          </a:prstGeom>
          <a:solidFill>
            <a:srgbClr val="3BB2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40080" y="35451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40803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vivo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3408036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de los programas en el simulador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38862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 una CPU? Una analogía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Pensemos en una cocina: el chef sigue una receta paso a paso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2F7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94360" y="14630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4173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recetario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1737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las instrucciones y los ingredientes (datos)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00600" y="146304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800600" y="14630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14173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dedo que marca el paso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1737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qué instrucción toca leer ahora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4360" y="265176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D982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94360" y="26517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965960" y="26060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receta en la mano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965960" y="2926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instrucción que se está ejecutando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46888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00600" y="265176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800600" y="26517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26060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chef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172200" y="2926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la instrucción y decide qué hacer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94360" y="384048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3BB2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594360" y="38404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965960" y="3794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batidora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965960" y="4114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las cuentas: suma, resta, compara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36576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00600" y="384048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4800600" y="38404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 BX CX DX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172200" y="3794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bowls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172200" y="4114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Guardan resultados de trabajo rápido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von Neumann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y datos viven en la MISMA memoria y viajan por los mismos buses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663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de Control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34640" y="178308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3BB2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834640" y="17830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+ banderas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ZF · CF · SF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606040"/>
            <a:ext cx="1325880" cy="548640"/>
          </a:xfrm>
          <a:prstGeom prst="roundRect">
            <a:avLst>
              <a:gd name="adj" fmla="val 10000"/>
            </a:avLst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0080" y="26060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· IR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103120" y="2606040"/>
            <a:ext cx="2834640" cy="548640"/>
          </a:xfrm>
          <a:prstGeom prst="roundRect">
            <a:avLst>
              <a:gd name="adj" fmla="val 10000"/>
            </a:avLst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2103120" y="2606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 · BX · CX · DX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611880"/>
            <a:ext cx="1325880" cy="548640"/>
          </a:xfrm>
          <a:prstGeom prst="roundRect">
            <a:avLst>
              <a:gd name="adj" fmla="val 10000"/>
            </a:avLst>
          </a:prstGeom>
          <a:solidFill>
            <a:srgbClr val="2F7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40080" y="36118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103120" y="3611880"/>
            <a:ext cx="1325880" cy="548640"/>
          </a:xfrm>
          <a:prstGeom prst="roundRect">
            <a:avLst>
              <a:gd name="adj" fmla="val 10000"/>
            </a:avLst>
          </a:prstGeom>
          <a:solidFill>
            <a:srgbClr val="2F7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2103120" y="36118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75120" y="1463040"/>
            <a:ext cx="2011680" cy="3017520"/>
          </a:xfrm>
          <a:prstGeom prst="roundRect">
            <a:avLst>
              <a:gd name="adj" fmla="val 3636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675120" y="1463040"/>
            <a:ext cx="2011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20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× 8 bits</a:t>
            </a:r>
            <a:endParaRPr lang="en-US" sz="2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9CC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00h–7Fh</a:t>
            </a:r>
            <a:endParaRPr lang="en-US" sz="20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2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80h–FFh</a:t>
            </a:r>
            <a:endParaRPr lang="en-US" sz="20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120640" y="2377440"/>
            <a:ext cx="1554480" cy="0"/>
          </a:xfrm>
          <a:prstGeom prst="line">
            <a:avLst/>
          </a:prstGeom>
          <a:noFill/>
          <a:ln w="38100">
            <a:solidFill>
              <a:srgbClr val="5B6B82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120640" y="20848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de control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20640" y="3291840"/>
            <a:ext cx="1554480" cy="0"/>
          </a:xfrm>
          <a:prstGeom prst="line">
            <a:avLst/>
          </a:prstGeom>
          <a:noFill/>
          <a:ln w="38100">
            <a:solidFill>
              <a:srgbClr val="2F75B5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5120640" y="29992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de direcciones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20640" y="4114800"/>
            <a:ext cx="1554480" cy="0"/>
          </a:xfrm>
          <a:prstGeom prst="line">
            <a:avLst/>
          </a:prstGeom>
          <a:noFill/>
          <a:ln w="38100">
            <a:solidFill>
              <a:srgbClr val="3BB273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5120640" y="38221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B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de datos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registros: la memoria rápida de la CPU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tiene una celda fija en la hoja de Excel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5669280" cy="914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¿Para qué sirve?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Counter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Dirección de la siguiente instrucción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 Register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Instrucción actual (opcode + operando)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Address Reg.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Dirección que se va a leer o escribir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Data Reg.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 que viene de la RAM o va hacia ella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Acumulador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Resultados de cálculos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B6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general y puntero para [BX]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B7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Contador de bucles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general / temporal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D6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234440"/>
            <a:ext cx="2286000" cy="32918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3"/>
          <p:cNvSpPr txBox="1"/>
          <p:nvPr/>
        </p:nvSpPr>
        <p:spPr>
          <a:xfrm>
            <a:off x="6537960" y="1325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estado (banderas)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537960" y="1874520"/>
            <a:ext cx="502920" cy="502920"/>
          </a:xfrm>
          <a:prstGeom prst="ellipse">
            <a:avLst/>
          </a:prstGeom>
          <a:solidFill>
            <a:srgbClr val="3BB2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5379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ZF</a:t>
            </a:r>
            <a:endParaRPr lang="en-US" sz="1870" dirty="0"/>
          </a:p>
        </p:txBody>
      </p:sp>
      <p:sp>
        <p:nvSpPr>
          <p:cNvPr id="9" name="Text 6"/>
          <p:cNvSpPr txBox="1"/>
          <p:nvPr/>
        </p:nvSpPr>
        <p:spPr>
          <a:xfrm>
            <a:off x="7132320" y="1828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si el resultado es 0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537960" y="274320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653796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</a:t>
            </a:r>
            <a:endParaRPr lang="en-US" sz="1870" dirty="0"/>
          </a:p>
        </p:txBody>
      </p:sp>
      <p:sp>
        <p:nvSpPr>
          <p:cNvPr id="12" name="Text 9"/>
          <p:cNvSpPr txBox="1"/>
          <p:nvPr/>
        </p:nvSpPr>
        <p:spPr>
          <a:xfrm>
            <a:off x="7132320" y="2697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si hubo acarreo o préstamo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537960" y="3611880"/>
            <a:ext cx="502920" cy="50292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653796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</a:t>
            </a:r>
            <a:endParaRPr lang="en-US" sz="1870" dirty="0"/>
          </a:p>
        </p:txBody>
      </p:sp>
      <p:sp>
        <p:nvSpPr>
          <p:cNvPr id="15" name="Text 12"/>
          <p:cNvSpPr txBox="1"/>
          <p:nvPr/>
        </p:nvSpPr>
        <p:spPr>
          <a:xfrm>
            <a:off x="7132320" y="3566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si el bit 7 es 1 (negativo)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memoria: 256 celdas en una cuadrícula 16 × 16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celda guarda 1 byte (8 bits), escrito en hexadecimal</a:t>
            </a:r>
            <a:endParaRPr lang="en-US" sz="1400" dirty="0"/>
          </a:p>
        </p:txBody>
      </p:sp>
      <p:pic>
        <p:nvPicPr>
          <p:cNvPr id="4" name="Image 0" descr="sim_m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8229600" cy="245305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74904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594360" y="38221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leo una dirección?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4160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82h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fila 80 + columna 02. El primer dígito es la fila, el segundo la columna.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46120" y="374904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3383280" y="38221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zonas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383280" y="4160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00–70: código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BB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80–F0: datos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35040" y="374904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172200" y="38221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 al ejecutar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172200" y="4160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amarillo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instrucción actual · </a:t>
            </a:r>
            <a:r>
              <a:rPr lang="en-US" sz="1100" b="1" dirty="0">
                <a:solidFill>
                  <a:srgbClr val="3BB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lectura · </a:t>
            </a:r>
            <a:r>
              <a:rPr lang="en-US" sz="11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escritura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de instrucción: 4 fases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instrucción pasa por estas 4 fases, siempre en el mismo orden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32004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457200" cy="457200"/>
          </a:xfrm>
          <a:prstGeom prst="ellipse">
            <a:avLst/>
          </a:prstGeom>
          <a:solidFill>
            <a:srgbClr val="2F7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943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4173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423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Traigo la instrucción de la memoria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063240"/>
            <a:ext cx="1645920" cy="1234440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0080" y="306324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 ← PC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MDR ← RAM[MAR]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 ← MDR ; PC+1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95728" y="2697480"/>
            <a:ext cx="182880" cy="274320"/>
          </a:xfrm>
          <a:prstGeom prst="rightArrow">
            <a:avLst/>
          </a:prstGeom>
          <a:solidFill>
            <a:srgbClr val="5B6B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87752" y="1280160"/>
            <a:ext cx="1920240" cy="32004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24912" y="1417320"/>
            <a:ext cx="457200" cy="457200"/>
          </a:xfrm>
          <a:prstGeom prst="ellipse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2724912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273552" y="14173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724912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724912" y="2423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Averiguo qué instrucción 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24912" y="3063240"/>
            <a:ext cx="1645920" cy="1234440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2770632" y="306324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UC lee el opcode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y, si hace falta,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lee el operando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26280" y="2697480"/>
            <a:ext cx="182880" cy="274320"/>
          </a:xfrm>
          <a:prstGeom prst="rightArrow">
            <a:avLst/>
          </a:prstGeom>
          <a:solidFill>
            <a:srgbClr val="5B6B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18304" y="1280160"/>
            <a:ext cx="1920240" cy="32004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55464" y="1417320"/>
            <a:ext cx="457200" cy="457200"/>
          </a:xfrm>
          <a:prstGeom prst="ellipse">
            <a:avLst/>
          </a:prstGeom>
          <a:solidFill>
            <a:srgbClr val="D982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855464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5404104" y="14173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855464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855464" y="2423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Hago la operación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55464" y="3063240"/>
            <a:ext cx="1645920" cy="1234440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4901184" y="306324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ALU calcula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actualiza ZF CF SF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56832" y="2697480"/>
            <a:ext cx="182880" cy="274320"/>
          </a:xfrm>
          <a:prstGeom prst="rightArrow">
            <a:avLst/>
          </a:prstGeom>
          <a:solidFill>
            <a:srgbClr val="5B6B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848856" y="1280160"/>
            <a:ext cx="1920240" cy="32004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986016" y="1417320"/>
            <a:ext cx="457200" cy="457200"/>
          </a:xfrm>
          <a:prstGeom prst="ellipse">
            <a:avLst/>
          </a:prstGeom>
          <a:solidFill>
            <a:srgbClr val="3BB2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6986016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7534656" y="14173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B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986016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6986016" y="2423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Guardo el resultado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986016" y="3063240"/>
            <a:ext cx="1645920" cy="1234440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7031736" y="306324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 ← resultado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RAM[MAR] ← MDR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pulso a pulso: MOV AX, 0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80 00 en la dirección 00h → 9 pulsos de reloj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5760720" cy="9144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Micro-operación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F75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MAR ← PC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= 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F75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MDR ← RAM[MAR]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MDR = 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F75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IR ← MDR ; PC ← PC+1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= 80, PC = 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UC decodifica 80h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MOV AX, imm8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MAR ← PC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= 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MDR ← RAM[MAR]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MDR = 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IR(op) ← MDR ; PC+1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= 80 00, PC = 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98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TMP ← IR(op)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TMP = 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BB2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AX ← TMP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 = 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1234440"/>
            <a:ext cx="2194560" cy="30175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6629400" y="1325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pulsos?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629400" y="17830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7360920" y="17830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byte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AX, BX</a:t>
            </a:r>
            <a:endParaRPr lang="en-US" sz="1100" dirty="0"/>
          </a:p>
        </p:txBody>
      </p:sp>
      <p:sp>
        <p:nvSpPr>
          <p:cNvPr id="4" name="Text 6"/>
          <p:cNvSpPr txBox="1"/>
          <p:nvPr/>
        </p:nvSpPr>
        <p:spPr>
          <a:xfrm>
            <a:off x="6629400" y="25603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360920" y="25603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bytes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 AX, 0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629400" y="3337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7360920" y="33375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/ STORE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[dirección]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sabe la CPU qué instrucción es?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opcode se lee por nibbles (grupos de 4 bits)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937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21h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0010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= 2 → ADD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48840" y="1783080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148840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23774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 = AX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783080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3BB2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200400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154680" y="23774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= BX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160520" y="1783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ADD AX, BX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743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1Xh–7Xh: primer dígito = operación, segundo dígito = registros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0" y="1234440"/>
            <a:ext cx="30175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80644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 cada registro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806440" y="178308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806440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 </a:t>
            </a:r>
            <a:r>
              <a:rPr lang="en-US" sz="1600" b="1" dirty="0">
                <a:solidFill>
                  <a:srgbClr val="E4572E"/>
                </a:solidFill>
              </a:rPr>
              <a:t>AX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223760" y="178308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223760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</a:t>
            </a:r>
            <a:r>
              <a:rPr lang="en-US" sz="1600" b="1" dirty="0">
                <a:solidFill>
                  <a:srgbClr val="E4572E"/>
                </a:solidFill>
              </a:rPr>
              <a:t>BX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806440" y="237744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5806440" y="2377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r>
              <a:rPr lang="en-US" sz="1600" b="1" dirty="0">
                <a:solidFill>
                  <a:srgbClr val="E4572E"/>
                </a:solidFill>
              </a:rPr>
              <a:t>CX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223760" y="237744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7223760" y="2377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r>
              <a:rPr lang="en-US" sz="1600" b="1" dirty="0">
                <a:solidFill>
                  <a:srgbClr val="E4572E"/>
                </a:solidFill>
              </a:rPr>
              <a:t>DX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7200" y="338328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548640" y="338328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E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1X–7X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325880" y="3383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← registro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 ADD SUB CMP AND OR XOR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46120" y="338328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3337560" y="338328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E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80–9B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114800" y="3383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← número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 AX, 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35040" y="338328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6126480" y="338328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E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A0–AF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903720" y="3383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/ STORE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041648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548640" y="404164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E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B0–BB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325880" y="40416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registro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 DEC NOT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46120" y="4041648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3337560" y="404164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E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C0–C6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4114800" y="40416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saltos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JMP JZ JNZ JC…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035040" y="4041648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6126480" y="404164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E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903720" y="40416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banderas con ejemplos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ALU las actualiza después de cada operación aritmética o lógica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B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ZF = 1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Flag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2286000" cy="457200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8580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CMP CX, 0 cuando CX = 0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017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0 − 0 = 0  →  el resultado es cero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749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JZ salta cuando ZF = 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28016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429000" y="1417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= 1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Flag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29000" y="2468880"/>
            <a:ext cx="2286000" cy="457200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47472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DX, CX con 144 + 233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3017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377 &gt; 255  →  no cabe en 8 bits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749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 termina con JC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128016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217920" y="1417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= 1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Flag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17920" y="2468880"/>
            <a:ext cx="2286000" cy="457200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26364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CMP CX, 2 cuando CX = 1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3017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1 − 2 = FFh  →  bit 7 = 1 (negativo)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3749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FFh = −1 en complemento a 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 proyecto en GitHub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Repositorio, tablero Kanban y documentación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9+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semánticos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 · fix · docs · chore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2801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429000" y="1371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en el Kanban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→ In progress → Done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2801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217920" y="1371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BB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opcodes documentados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ISA en el README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4008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README incluye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61188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40080" y="36118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Mermaid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40280" y="361188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2240280" y="36118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ISA completa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840480" y="361188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3840480" y="36118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usuario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40680" y="361188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5440680" y="36118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 de registros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040880" y="361188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7040880" y="36118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principal: multiplicación 7 × 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Multiplicar es sumar varias veces: 7 + 7 + 7 = 21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4937760" cy="9144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hace?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LOAD BX, [80h]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BX = 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LOAD CX, [81h]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CX = 3 (contador)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MOV AX, 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 =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06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CMP CX, 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¿B es 0?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JZ FIN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sí, terminar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ADD AX, BX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BUCLE: AX = AX + 7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0B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DEC CX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CX = CX − 1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0C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JNZ 0Ah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repetir si CX ≠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STORE [82h], AX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FIN: guardar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HLT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234440"/>
            <a:ext cx="3017520" cy="32461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580644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Vueltas del bucle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06440" y="1783080"/>
            <a:ext cx="411480" cy="41148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80644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30" dirty="0"/>
          </a:p>
        </p:txBody>
      </p:sp>
      <p:sp>
        <p:nvSpPr>
          <p:cNvPr id="9" name="Text 6"/>
          <p:cNvSpPr txBox="1"/>
          <p:nvPr/>
        </p:nvSpPr>
        <p:spPr>
          <a:xfrm>
            <a:off x="6355080" y="1737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+ 7 = 7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CX: 3 → 2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806440" y="2468880"/>
            <a:ext cx="411480" cy="41148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80644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30" dirty="0"/>
          </a:p>
        </p:txBody>
      </p:sp>
      <p:sp>
        <p:nvSpPr>
          <p:cNvPr id="12" name="Text 9"/>
          <p:cNvSpPr txBox="1"/>
          <p:nvPr/>
        </p:nvSpPr>
        <p:spPr>
          <a:xfrm>
            <a:off x="6355080" y="2423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+ 7 = 14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CX: 2 → 1</a:t>
            </a:r>
            <a:endParaRPr lang="en-US" sz="1300" dirty="0"/>
          </a:p>
        </p:txBody>
      </p:sp>
      <p:sp>
        <p:nvSpPr>
          <p:cNvPr id="4" name="Shape 10"/>
          <p:cNvSpPr/>
          <p:nvPr/>
        </p:nvSpPr>
        <p:spPr>
          <a:xfrm>
            <a:off x="5806440" y="3154680"/>
            <a:ext cx="411480" cy="41148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80644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30" dirty="0"/>
          </a:p>
        </p:txBody>
      </p:sp>
      <p:sp>
        <p:nvSpPr>
          <p:cNvPr id="15" name="Text 12"/>
          <p:cNvSpPr txBox="1"/>
          <p:nvPr/>
        </p:nvSpPr>
        <p:spPr>
          <a:xfrm>
            <a:off x="6355080" y="3108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+ 7 = 21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CX: 1 → 0, ZF = 1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806440" y="3794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B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= 15h</a:t>
            </a:r>
            <a:endParaRPr lang="en-US" sz="2600" dirty="0"/>
          </a:p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en la dirección 82h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programas de prueba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eligen en la celda B25 y se cargan con LOAD PROGRAM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2F7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63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7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Multiplicación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× 3 por sumas sucesivas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194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82h = 15h (21)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4505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instr · 126 pulsos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46320" y="1463040"/>
            <a:ext cx="457200" cy="457200"/>
          </a:xfrm>
          <a:prstGeom prst="ellipse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8463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1463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4068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 hasta desbordar 8 bits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40680" y="2194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A0h… = 1 1 2 3 5 8 … 233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40680" y="24505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instr · 727 pulsos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D982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Factorial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5! con sumas anidadas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81h = 78h (120)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40965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instr · 467 pulsos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9260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46320" y="3108960"/>
            <a:ext cx="457200" cy="457200"/>
          </a:xfrm>
          <a:prstGeom prst="ellipse">
            <a:avLst/>
          </a:prstGeom>
          <a:solidFill>
            <a:srgbClr val="3BB2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8463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544068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B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regresiva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544068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10 a 0, guarda los pares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40680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A0h… = 10 8 6 4 2 0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440680" y="40965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instr · 715 pulsos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control: qué hace cada botón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botones controlan el reloj de la CPU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2F7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94360" y="14630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325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 un pulso de reloj: ejecuta una sola micro-operación (ej. MAR ← PC).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00600" y="146304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800600" y="14630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INSTR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325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una instrucción completa: todas sus micro-operaciones, de FETCH a STORE.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" y="256032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3BB2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94360" y="25603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965960" y="24231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el programa de forma continua hasta HLT. El retardo entre pulsos se ajusta en ms.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3317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00600" y="256032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D982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800600" y="25603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24231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Detiene RUN sin perder nada; se puede continuar con STEP o RUN.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4360" y="365760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594360" y="36576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965960" y="3520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 registros, banderas y PC en 00h y limpia el log. La memoria se conserva.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342900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00600" y="365760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4800600" y="36576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PROGRAM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520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 la RAM, carga el programa elegido en la lista y hace RESET.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vivo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en Excel · programa de multiplicación y Fibonacci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490472"/>
            <a:ext cx="457200" cy="457200"/>
          </a:xfrm>
          <a:prstGeom prst="ellipse">
            <a:avLst/>
          </a:prstGeom>
          <a:solidFill>
            <a:srgbClr val="2F7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441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el programa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7099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PROGRAM escribe el código y los datos en la RAM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1490472"/>
            <a:ext cx="457200" cy="457200"/>
          </a:xfrm>
          <a:prstGeom prst="ellipse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8463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13441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por micro-operaciones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17099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cada pulso muestra una micro-operación en el log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" y="2587752"/>
            <a:ext cx="457200" cy="457200"/>
          </a:xfrm>
          <a:prstGeom prst="ellipse">
            <a:avLst/>
          </a:prstGeom>
          <a:solidFill>
            <a:srgbClr val="D982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4008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441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Instrucción por instrucción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8072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INSTR: cambios en registros y banderas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3317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46320" y="2587752"/>
            <a:ext cx="457200" cy="457200"/>
          </a:xfrm>
          <a:prstGeom prst="ellipse">
            <a:avLst/>
          </a:prstGeom>
          <a:solidFill>
            <a:srgbClr val="3BB2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84632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2441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completa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28072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hasta HLT: resultado 15h en la dirección 82h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42900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0080" y="368503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40080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3538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datos en vivo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39044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81h = 05 → el resultado pasa a 23h (7 × 5 = 35)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342900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0" y="3685032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4846320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0" y="3538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 programa: Fibonacci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0" y="39044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 en A0h y CF = 1 al desbordar los 8 bits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1498</Words>
  <Application>Microsoft Office PowerPoint</Application>
  <PresentationFormat>On-screen Show (16:9)</PresentationFormat>
  <Paragraphs>385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Simulador de CPU de 8 bits</dc:title>
  <dc:subject>PptxGenJS Presentation</dc:subject>
  <dc:creator>Maria Alicia Belaunde Villagomez</dc:creator>
  <cp:lastModifiedBy>Alicia Belaunde</cp:lastModifiedBy>
  <cp:revision>2</cp:revision>
  <dcterms:created xsi:type="dcterms:W3CDTF">2026-09-30T01:42:19Z</dcterms:created>
  <dcterms:modified xsi:type="dcterms:W3CDTF">2026-09-30T01:44:44Z</dcterms:modified>
</cp:coreProperties>
</file>